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05840"/>
            <a:ext cx="128016" cy="44805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234440"/>
            <a:ext cx="9601200" cy="1120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SALES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886968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100" b="0">
                <a:solidFill>
                  <a:srgbClr val="DCE6EB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 to understand sales patterns and support business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53035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96D2D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6E0CC-5B0A-476F-94DE-E33E20CF1609}"/>
              </a:ext>
            </a:extLst>
          </p:cNvPr>
          <p:cNvSpPr txBox="1"/>
          <p:nvPr/>
        </p:nvSpPr>
        <p:spPr>
          <a:xfrm>
            <a:off x="1188720" y="4724400"/>
            <a:ext cx="5303520" cy="9510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96D2D2"/>
                </a:solidFill>
                <a:latin typeface="Aptos"/>
              </a:defRPr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defRPr sz="1200" b="1">
                <a:solidFill>
                  <a:srgbClr val="96D2D2"/>
                </a:solidFill>
                <a:latin typeface="Aptos"/>
              </a:defRPr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Ogunyebi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Monisola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 b="1">
                <a:solidFill>
                  <a:srgbClr val="96D2D2"/>
                </a:solidFill>
                <a:latin typeface="Aptos"/>
              </a:defRPr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2026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46634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4572000" cy="8586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262F3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retailers need to understand product demand, changing sales patterns, pricing and seasonal preferences.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72768"/>
            <a:ext cx="4663440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93392"/>
            <a:ext cx="4572000" cy="8586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262F3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data, it can be difficult to identify strong products, slow periods and opportunities to improve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27432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27777E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BUSINESS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60520"/>
            <a:ext cx="10607040" cy="1143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405599"/>
            <a:ext cx="10058400" cy="6894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2200" b="1">
                <a:solidFill>
                  <a:srgbClr val="1F3046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fashion sales data help us understand performance and improve pricing, promotions and inventory decisions?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5D6A77"/>
                </a:solidFill>
                <a:latin typeface="Aptos"/>
              </a:defRPr>
            </a:pPr>
            <a:r>
              <a:t>Focus: monthly trends • products and categories • seasons • discounts • customers and regions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Dataset &amp; Analysis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645920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7777E"/>
                </a:solidFill>
                <a:latin typeface="Aptos"/>
              </a:defRPr>
            </a:pPr>
            <a:r>
              <a:t>Dataset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84831"/>
            <a:ext cx="28803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by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this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645920"/>
            <a:ext cx="28803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84831"/>
            <a:ext cx="28803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5,018 entries and 15 columns before cleaning.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645920"/>
            <a:ext cx="28803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084831"/>
            <a:ext cx="288036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Orders, dates, products, quantity, price, discount, region and payment method.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3840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27777E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EXPLORED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6675120" cy="134806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How do sales change over time and across seasons?</a:t>
            </a:r>
          </a:p>
          <a:p>
            <a:pPr>
              <a:spcAft>
                <a:spcPts val="8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Which products and categories contribute most to sales?</a:t>
            </a:r>
          </a:p>
          <a:p>
            <a:pPr>
              <a:spcAft>
                <a:spcPts val="8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Are discounts associated with higher quantity sold?</a:t>
            </a:r>
          </a:p>
          <a:p>
            <a:pPr>
              <a:spcAft>
                <a:spcPts val="8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How do sales vary across regions and payment methods?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212080" cy="315468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5720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27777E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572000" cy="220983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Checked missing values and duplicates.</a:t>
            </a:r>
          </a:p>
          <a:p>
            <a:pPr>
              <a:spcAft>
                <a:spcPts val="800"/>
              </a:spcAft>
              <a:defRPr sz="15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Found 15 duplicate records.</a:t>
            </a:r>
          </a:p>
          <a:p>
            <a:pPr>
              <a:spcAft>
                <a:spcPts val="800"/>
              </a:spcAft>
              <a:defRPr sz="15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Recovered some missing values using related fields where possible.</a:t>
            </a:r>
          </a:p>
          <a:p>
            <a:pPr>
              <a:spcAft>
                <a:spcPts val="800"/>
              </a:spcAft>
              <a:defRPr sz="15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Corrected date, price and quantity data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315468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5720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27777E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572000" cy="159428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Gross sales and discount amount</a:t>
            </a:r>
          </a:p>
          <a:p>
            <a:pPr>
              <a:spcAft>
                <a:spcPts val="800"/>
              </a:spcAft>
              <a:defRPr sz="15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Net sales</a:t>
            </a:r>
          </a:p>
          <a:p>
            <a:pPr>
              <a:spcAft>
                <a:spcPts val="800"/>
              </a:spcAft>
              <a:defRPr sz="15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Month, quarter and season</a:t>
            </a:r>
          </a:p>
          <a:p>
            <a:pPr>
              <a:spcAft>
                <a:spcPts val="800"/>
              </a:spcAft>
              <a:defRPr sz="15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Average order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83480"/>
            <a:ext cx="10561320" cy="7772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5184648"/>
            <a:ext cx="1005840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F3046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feature engineering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4,584 entries and 21 columns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EDA 1 — Monthly Sales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7863840" cy="5074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74066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777E"/>
                </a:solidFill>
                <a:latin typeface="Aptos"/>
              </a:defRPr>
            </a:pPr>
            <a:r>
              <a:t>Monthly sales 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26180"/>
            <a:ext cx="7223759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5D6A77"/>
                </a:solidFill>
                <a:latin typeface="Aptos"/>
              </a:defRPr>
            </a:pPr>
            <a:r>
              <a:t>PLACE VISUAL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42432"/>
            <a:ext cx="72237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D6A77"/>
                </a:solidFill>
                <a:latin typeface="Aptos"/>
              </a:defRPr>
            </a:pPr>
            <a:r>
              <a:t>Use a high-resolution export; keep month labels readable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79" y="1234440"/>
            <a:ext cx="2989385" cy="507492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536192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851359"/>
            <a:ext cx="2831122" cy="334860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May 2025 recorded the highest sales.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July 2026 was another strong month.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December 2025 and June 2026 were the lowest.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There is a general poor sale recorded in the Month of December across the three years (2024-2026).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915400" y="4975993"/>
            <a:ext cx="2011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27777E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dirty="0"/>
              <a:t>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9116" y="5348399"/>
            <a:ext cx="2817406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sales peaks and plan stock for higher-demand periods.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B681AC-EEFD-4D57-AA24-E20E9C354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8" y="1106189"/>
            <a:ext cx="8562302" cy="5239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EDA 2 — Product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7863840" cy="5074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74066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777E"/>
                </a:solidFill>
                <a:latin typeface="Aptos"/>
              </a:defRPr>
            </a:pPr>
            <a:r>
              <a:t>Product revenue or quantity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26180"/>
            <a:ext cx="7223759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5D6A77"/>
                </a:solidFill>
                <a:latin typeface="Aptos"/>
              </a:defRPr>
            </a:pPr>
            <a:r>
              <a:t>PLACE VISUAL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42432"/>
            <a:ext cx="72237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D6A77"/>
                </a:solidFill>
                <a:latin typeface="Aptos"/>
              </a:defRPr>
            </a:pPr>
            <a:r>
              <a:t>Choose one clear chart; avoid squeezing several charts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79" y="1234440"/>
            <a:ext cx="2876843" cy="507492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536192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399" y="2066544"/>
            <a:ext cx="2831123" cy="159428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Trench coat led product revenue.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Blazer led quantity sold.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Some high-quantity products generated lower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4332887"/>
            <a:ext cx="2011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27777E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4787527"/>
            <a:ext cx="242316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pricing, quantity and costs together before judging performance.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E7FEB0-A260-4CC3-8BA9-DAD79F86F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818036"/>
            <a:ext cx="7970520" cy="5747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EDA 3 — Category &amp; Seasonal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7863840" cy="5074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74066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777E"/>
                </a:solidFill>
                <a:latin typeface="Aptos"/>
              </a:defRPr>
            </a:pPr>
            <a:r>
              <a:t>Category × season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26180"/>
            <a:ext cx="7223759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5D6A77"/>
                </a:solidFill>
                <a:latin typeface="Aptos"/>
              </a:defRPr>
            </a:pPr>
            <a:r>
              <a:t>PLACE VISUAL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42432"/>
            <a:ext cx="72237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D6A77"/>
                </a:solidFill>
                <a:latin typeface="Aptos"/>
              </a:defRPr>
            </a:pPr>
            <a:r>
              <a:t>Make sure category and season labels are visible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234440"/>
            <a:ext cx="2919046" cy="507492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536192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79" y="2084831"/>
            <a:ext cx="2577905" cy="1840504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Outerwear performed best in both season.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Tops had the lowest performance in both season.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Rainy-season sales were higher than dry-season sales.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594836"/>
            <a:ext cx="2011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27777E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0556" y="5079516"/>
            <a:ext cx="2550473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seasonal patterns to guide stock planning and review low-performing categories.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93C105-826B-4C42-869A-7CD40964A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4" y="1031742"/>
            <a:ext cx="8290577" cy="5388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EDA 4 — Discount vs Quantity Sold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7863840" cy="5074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74066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777E"/>
                </a:solidFill>
                <a:latin typeface="Aptos"/>
              </a:defRPr>
            </a:pPr>
            <a:r>
              <a:t>Discount vs quantity scatter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26180"/>
            <a:ext cx="7223759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5D6A77"/>
                </a:solidFill>
                <a:latin typeface="Aptos"/>
              </a:defRPr>
            </a:pPr>
            <a:r>
              <a:t>PLACE VISUAL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42432"/>
            <a:ext cx="72237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D6A77"/>
                </a:solidFill>
                <a:latin typeface="Aptos"/>
              </a:defRPr>
            </a:pPr>
            <a:r>
              <a:t>Include the trend line only if it helps explain the relationship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234440"/>
            <a:ext cx="2560320" cy="507492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536192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2" y="2148840"/>
            <a:ext cx="20116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1">
                <a:solidFill>
                  <a:srgbClr val="1F3046"/>
                </a:solidFill>
                <a:latin typeface="Aptos"/>
              </a:defRPr>
            </a:pPr>
            <a:r>
              <a:t>Correlation = 0.029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096887"/>
            <a:ext cx="2057400" cy="13049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very weak positive linear relationship between discount and quantity sold.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553357"/>
            <a:ext cx="2011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27777E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5420" y="5004387"/>
            <a:ext cx="2011680" cy="13049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alone may not explain sales volume; assess promotions with other factors.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9C0036-A655-472B-98B0-097A21AD2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4" y="1020312"/>
            <a:ext cx="8693130" cy="5388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EDA 5 — Regional &amp; Payment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7863840" cy="5074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74066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777E"/>
                </a:solidFill>
                <a:latin typeface="Aptos"/>
              </a:defRPr>
            </a:pPr>
            <a:r>
              <a:t>Regional revenue or payment method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26180"/>
            <a:ext cx="7223759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5D6A77"/>
                </a:solidFill>
                <a:latin typeface="Aptos"/>
              </a:defRPr>
            </a:pPr>
            <a:r>
              <a:t>PLACE VISUAL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42432"/>
            <a:ext cx="72237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D6A77"/>
                </a:solidFill>
                <a:latin typeface="Aptos"/>
              </a:defRPr>
            </a:pPr>
            <a:r>
              <a:t>Use one chart here; mention the second finding in the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79" y="1234440"/>
            <a:ext cx="2865121" cy="507492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536192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2" y="2084831"/>
            <a:ext cx="2057400" cy="205594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North-West had the highest revenue.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South-East had more customers than North-West.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599" y="4620668"/>
            <a:ext cx="2468881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27777E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059580"/>
            <a:ext cx="2633472" cy="9510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262F38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customer count, average order value and product mix by region.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17EC63-09B5-46D8-9AA9-4F04FFB75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043121"/>
            <a:ext cx="8264769" cy="561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6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rPr lang="en-US" dirty="0"/>
              <a:t>EDA 6 — Payment Method &amp; Revenue</a:t>
            </a:r>
          </a:p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7863840" cy="5074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35608"/>
            <a:ext cx="74066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777E"/>
                </a:solidFill>
                <a:latin typeface="Aptos"/>
              </a:defRPr>
            </a:pPr>
            <a:r>
              <a:t>Regional revenue or payment method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26180"/>
            <a:ext cx="7223759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800" b="1">
                <a:solidFill>
                  <a:srgbClr val="5D6A77"/>
                </a:solidFill>
                <a:latin typeface="Aptos"/>
              </a:defRPr>
            </a:pPr>
            <a:r>
              <a:t>PLACE VISUAL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42432"/>
            <a:ext cx="722375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D6A77"/>
                </a:solidFill>
                <a:latin typeface="Aptos"/>
              </a:defRPr>
            </a:pPr>
            <a:r>
              <a:t>Use one chart here; mention the second finding in the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79" y="1234440"/>
            <a:ext cx="2865121" cy="507492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1536192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1" y="2084831"/>
            <a:ext cx="2468881" cy="205594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lang="en-US" sz="2000" dirty="0"/>
              <a:t>•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wallets generated the most revenue.</a:t>
            </a:r>
          </a:p>
          <a:p>
            <a:pPr>
              <a:spcAft>
                <a:spcPts val="1200"/>
              </a:spcAft>
              <a:defRPr sz="1400">
                <a:solidFill>
                  <a:srgbClr val="262F38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and Card were the mostly used payment method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91599" y="4620668"/>
            <a:ext cx="2468881" cy="3662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27777E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059580"/>
            <a:ext cx="2633472" cy="9510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262F38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payment methods by the total revenue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D06526-A1F0-4A68-AE16-5ACC1ACE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16" y="1224902"/>
            <a:ext cx="7729961" cy="515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83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Other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291840" cy="205740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83080"/>
            <a:ext cx="28803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67712"/>
            <a:ext cx="288036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just">
              <a:defRPr sz="15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quantity did not always mean high revenue. Trench coats led revenue, while blazers led quantity.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205740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783080"/>
            <a:ext cx="28803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267712"/>
            <a:ext cx="288036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just">
              <a:defRPr sz="15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wallets led revenue, followed by cash. Card generated the least revenue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widely used by customers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291840" cy="205740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8" y="1783080"/>
            <a:ext cx="288036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27777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267712"/>
            <a:ext cx="288036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just">
              <a:defRPr sz="1500" b="0">
                <a:solidFill>
                  <a:srgbClr val="262F3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 was the most popular color. OS was the most popular clothing size; size 42 led shoe sizes.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10561320" cy="1188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10012680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just">
              <a:defRPr sz="1700" b="1">
                <a:solidFill>
                  <a:srgbClr val="1F304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patterns can help guide inventory and product decisions, but revenue alone does not show profit. Cost and margin data would be needed for profitability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11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F2E34F-3245-4F63-991B-7927E0915141}"/>
              </a:ext>
            </a:extLst>
          </p:cNvPr>
          <p:cNvGrpSpPr/>
          <p:nvPr/>
        </p:nvGrpSpPr>
        <p:grpSpPr>
          <a:xfrm>
            <a:off x="749808" y="1499615"/>
            <a:ext cx="5166360" cy="1143000"/>
            <a:chOff x="777240" y="1325880"/>
            <a:chExt cx="5166360" cy="1143000"/>
          </a:xfrm>
        </p:grpSpPr>
        <p:sp>
          <p:nvSpPr>
            <p:cNvPr id="6" name="Rounded Rectangle 5"/>
            <p:cNvSpPr/>
            <p:nvPr/>
          </p:nvSpPr>
          <p:spPr>
            <a:xfrm>
              <a:off x="777240" y="1325880"/>
              <a:ext cx="5166360" cy="1143000"/>
            </a:xfrm>
            <a:prstGeom prst="roundRect">
              <a:avLst>
                <a:gd name="adj" fmla="val 8000"/>
              </a:avLst>
            </a:prstGeom>
            <a:solidFill>
              <a:srgbClr val="EFF5F6"/>
            </a:solidFill>
            <a:ln w="12700">
              <a:solidFill>
                <a:srgbClr val="BECF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8408" y="1481328"/>
              <a:ext cx="4663440" cy="32008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defRPr sz="1600" b="1">
                  <a:solidFill>
                    <a:srgbClr val="27777E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Plan for demand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8408" y="1828800"/>
              <a:ext cx="4663440" cy="50475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just">
                <a:defRPr sz="1300" b="0">
                  <a:solidFill>
                    <a:srgbClr val="262F38"/>
                  </a:solidFill>
                  <a:latin typeface="Aptos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Investigate sales peaks and prepare inventory for high-demand periods.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5E88500-FCEF-4D8C-B9AA-F2571EF59DAA}"/>
              </a:ext>
            </a:extLst>
          </p:cNvPr>
          <p:cNvGrpSpPr/>
          <p:nvPr/>
        </p:nvGrpSpPr>
        <p:grpSpPr>
          <a:xfrm>
            <a:off x="6419088" y="1497329"/>
            <a:ext cx="5166360" cy="1143000"/>
            <a:chOff x="6217920" y="1325880"/>
            <a:chExt cx="5166360" cy="1143000"/>
          </a:xfrm>
        </p:grpSpPr>
        <p:sp>
          <p:nvSpPr>
            <p:cNvPr id="9" name="Rounded Rectangle 8"/>
            <p:cNvSpPr/>
            <p:nvPr/>
          </p:nvSpPr>
          <p:spPr>
            <a:xfrm>
              <a:off x="6217920" y="1325880"/>
              <a:ext cx="5166360" cy="1143000"/>
            </a:xfrm>
            <a:prstGeom prst="roundRect">
              <a:avLst>
                <a:gd name="adj" fmla="val 8000"/>
              </a:avLst>
            </a:prstGeom>
            <a:solidFill>
              <a:srgbClr val="EFF5F6"/>
            </a:solidFill>
            <a:ln w="12700">
              <a:solidFill>
                <a:srgbClr val="BECF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19088" y="1481328"/>
              <a:ext cx="4663440" cy="32008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defRPr sz="1600" b="1">
                  <a:solidFill>
                    <a:srgbClr val="27777E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Review products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19088" y="1828800"/>
              <a:ext cx="4663440" cy="50475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just">
                <a:defRPr sz="1300" b="0">
                  <a:solidFill>
                    <a:srgbClr val="262F38"/>
                  </a:solidFill>
                  <a:latin typeface="Aptos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Assess pricing, discounts and costs for high-quantity, lower-revenue products.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BB7B68-EFBA-46CC-976D-528E4F30A81F}"/>
              </a:ext>
            </a:extLst>
          </p:cNvPr>
          <p:cNvGrpSpPr/>
          <p:nvPr/>
        </p:nvGrpSpPr>
        <p:grpSpPr>
          <a:xfrm>
            <a:off x="749808" y="3291839"/>
            <a:ext cx="5166360" cy="1143000"/>
            <a:chOff x="777240" y="2788920"/>
            <a:chExt cx="5166360" cy="1143000"/>
          </a:xfrm>
        </p:grpSpPr>
        <p:sp>
          <p:nvSpPr>
            <p:cNvPr id="12" name="Rounded Rectangle 11"/>
            <p:cNvSpPr/>
            <p:nvPr/>
          </p:nvSpPr>
          <p:spPr>
            <a:xfrm>
              <a:off x="777240" y="2788920"/>
              <a:ext cx="5166360" cy="1143000"/>
            </a:xfrm>
            <a:prstGeom prst="roundRect">
              <a:avLst>
                <a:gd name="adj" fmla="val 8000"/>
              </a:avLst>
            </a:prstGeom>
            <a:solidFill>
              <a:srgbClr val="EFF5F6"/>
            </a:solidFill>
            <a:ln w="12700">
              <a:solidFill>
                <a:srgbClr val="BECF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8408" y="2944368"/>
              <a:ext cx="4663440" cy="32008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defRPr sz="1600" b="1">
                  <a:solidFill>
                    <a:srgbClr val="27777E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Plan by season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8408" y="3291839"/>
              <a:ext cx="4663440" cy="50475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just">
                <a:defRPr sz="1300" b="0">
                  <a:solidFill>
                    <a:srgbClr val="262F38"/>
                  </a:solidFill>
                  <a:latin typeface="Aptos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 category and seasonal patterns to guide stock levels; review low-performing tops.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9FAE16-6E39-4E28-AFD3-A562E21ED1F9}"/>
              </a:ext>
            </a:extLst>
          </p:cNvPr>
          <p:cNvGrpSpPr/>
          <p:nvPr/>
        </p:nvGrpSpPr>
        <p:grpSpPr>
          <a:xfrm>
            <a:off x="6419088" y="3291839"/>
            <a:ext cx="5166360" cy="1143000"/>
            <a:chOff x="6217920" y="2788920"/>
            <a:chExt cx="5166360" cy="1143000"/>
          </a:xfrm>
        </p:grpSpPr>
        <p:sp>
          <p:nvSpPr>
            <p:cNvPr id="15" name="Rounded Rectangle 14"/>
            <p:cNvSpPr/>
            <p:nvPr/>
          </p:nvSpPr>
          <p:spPr>
            <a:xfrm>
              <a:off x="6217920" y="2788920"/>
              <a:ext cx="5166360" cy="1143000"/>
            </a:xfrm>
            <a:prstGeom prst="roundRect">
              <a:avLst>
                <a:gd name="adj" fmla="val 8000"/>
              </a:avLst>
            </a:prstGeom>
            <a:solidFill>
              <a:srgbClr val="EFF5F6"/>
            </a:solidFill>
            <a:ln w="12700">
              <a:solidFill>
                <a:srgbClr val="BECF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19088" y="2944368"/>
              <a:ext cx="4663440" cy="32008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defRPr sz="1600" b="1">
                  <a:solidFill>
                    <a:srgbClr val="27777E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Evaluate promotions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19088" y="3291839"/>
              <a:ext cx="4663440" cy="50475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defRPr sz="1300" b="0">
                  <a:solidFill>
                    <a:srgbClr val="262F38"/>
                  </a:solidFill>
                  <a:latin typeface="Aptos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 not rely only on discounts; compare quantity, net sales and profitability where cost data exists.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6ED8BB5-E040-49FE-BF60-E53ED48F0FAC}"/>
              </a:ext>
            </a:extLst>
          </p:cNvPr>
          <p:cNvGrpSpPr/>
          <p:nvPr/>
        </p:nvGrpSpPr>
        <p:grpSpPr>
          <a:xfrm>
            <a:off x="777240" y="5193516"/>
            <a:ext cx="5166360" cy="1143000"/>
            <a:chOff x="777240" y="4251960"/>
            <a:chExt cx="5166360" cy="1143000"/>
          </a:xfrm>
        </p:grpSpPr>
        <p:sp>
          <p:nvSpPr>
            <p:cNvPr id="18" name="Rounded Rectangle 17"/>
            <p:cNvSpPr/>
            <p:nvPr/>
          </p:nvSpPr>
          <p:spPr>
            <a:xfrm>
              <a:off x="777240" y="4251960"/>
              <a:ext cx="5166360" cy="1143000"/>
            </a:xfrm>
            <a:prstGeom prst="roundRect">
              <a:avLst>
                <a:gd name="adj" fmla="val 8000"/>
              </a:avLst>
            </a:prstGeom>
            <a:solidFill>
              <a:srgbClr val="EFF5F6"/>
            </a:solidFill>
            <a:ln w="12700">
              <a:solidFill>
                <a:srgbClr val="BECF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78408" y="4407408"/>
              <a:ext cx="4663440" cy="32008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defRPr sz="1600" b="1">
                  <a:solidFill>
                    <a:srgbClr val="27777E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 regions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78408" y="4754880"/>
              <a:ext cx="4663440" cy="50475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defRPr sz="1300" b="0">
                  <a:solidFill>
                    <a:srgbClr val="262F38"/>
                  </a:solidFill>
                  <a:latin typeface="Aptos"/>
                </a:defRPr>
              </a:pPr>
              <a:r>
                <a:rPr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Review average order value, customer counts and product mix across regions.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E770779-01A5-4A28-9D05-5637AB8CD0E6}"/>
              </a:ext>
            </a:extLst>
          </p:cNvPr>
          <p:cNvGrpSpPr/>
          <p:nvPr/>
        </p:nvGrpSpPr>
        <p:grpSpPr>
          <a:xfrm>
            <a:off x="6419088" y="5170932"/>
            <a:ext cx="5166360" cy="1143000"/>
            <a:chOff x="6217920" y="4251960"/>
            <a:chExt cx="5166360" cy="1143000"/>
          </a:xfrm>
        </p:grpSpPr>
        <p:sp>
          <p:nvSpPr>
            <p:cNvPr id="21" name="Rounded Rectangle 20"/>
            <p:cNvSpPr/>
            <p:nvPr/>
          </p:nvSpPr>
          <p:spPr>
            <a:xfrm>
              <a:off x="6217920" y="4251960"/>
              <a:ext cx="5166360" cy="1143000"/>
            </a:xfrm>
            <a:prstGeom prst="roundRect">
              <a:avLst>
                <a:gd name="adj" fmla="val 8000"/>
              </a:avLst>
            </a:prstGeom>
            <a:solidFill>
              <a:srgbClr val="EFF5F6"/>
            </a:solidFill>
            <a:ln w="12700">
              <a:solidFill>
                <a:srgbClr val="BECF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19088" y="4407408"/>
              <a:ext cx="4663440" cy="32008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just">
                <a:defRPr sz="1600" b="1">
                  <a:solidFill>
                    <a:srgbClr val="27777E"/>
                  </a:solidFill>
                  <a:latin typeface="Aptos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 preference data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19088" y="4754880"/>
              <a:ext cx="4663440" cy="50475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>
                <a:defRPr sz="1300" b="0">
                  <a:solidFill>
                    <a:srgbClr val="262F38"/>
                  </a:solidFill>
                  <a:latin typeface="Aptos"/>
                </a:defRPr>
              </a:pPr>
              <a:r>
                <a:rPr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Monitor popular colours and sizes while checking stock availability.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1F304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411480"/>
            <a:ext cx="2103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27777E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27777E"/>
          </a:solidFill>
          <a:ln w="12700">
            <a:solidFill>
              <a:srgbClr val="27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5D6A7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6583680" cy="329184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5943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27777E"/>
                </a:solidFill>
                <a:latin typeface="Aptos"/>
              </a:defRPr>
            </a:pPr>
            <a:r>
              <a:t>What the analysis showed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5806440" cy="1828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0">
                <a:solidFill>
                  <a:srgbClr val="1F3046"/>
                </a:solidFill>
                <a:latin typeface="Aptos"/>
              </a:defRPr>
            </a:pPr>
            <a:r>
              <a:t>The analysis identified patterns in monthly sales, product and category performance, seasons, discounts, regions and payment methods. These findings can support better inventory and sales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BE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783080"/>
            <a:ext cx="3017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27777E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31720"/>
            <a:ext cx="2834640" cy="1920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t>•  Python</a:t>
            </a:r>
          </a:p>
          <a:p>
            <a:pPr>
              <a:spcAft>
                <a:spcPts val="9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t>•  Jupyter Notebook</a:t>
            </a:r>
          </a:p>
          <a:p>
            <a:pPr>
              <a:spcAft>
                <a:spcPts val="9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t>•  Pandas and NumPy</a:t>
            </a:r>
          </a:p>
          <a:p>
            <a:pPr>
              <a:spcAft>
                <a:spcPts val="9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t>•  Matplotlib and Seaborn</a:t>
            </a:r>
          </a:p>
          <a:p>
            <a:pPr>
              <a:spcAft>
                <a:spcPts val="900"/>
              </a:spcAft>
              <a:defRPr sz="1600">
                <a:solidFill>
                  <a:srgbClr val="262F38"/>
                </a:solidFill>
                <a:latin typeface="Aptos"/>
              </a:defRPr>
            </a:pPr>
            <a:r>
              <a:t>• 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500" b="1">
                <a:solidFill>
                  <a:srgbClr val="1F304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8076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5D6A77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926</Words>
  <Application>Microsoft Office PowerPoint</Application>
  <PresentationFormat>Widescreen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Ogunyebi Felicia</cp:lastModifiedBy>
  <cp:revision>2</cp:revision>
  <dcterms:created xsi:type="dcterms:W3CDTF">2013-01-27T09:14:16Z</dcterms:created>
  <dcterms:modified xsi:type="dcterms:W3CDTF">2026-10-15T23:16:52Z</dcterms:modified>
  <cp:category/>
</cp:coreProperties>
</file>