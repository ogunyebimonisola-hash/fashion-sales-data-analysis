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8" r:id="rId10"/>
    <p:sldId id="269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31520" y="1005840"/>
            <a:ext cx="128016" cy="44805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1234440"/>
            <a:ext cx="9601200" cy="112030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FASHION SALES</a:t>
            </a:r>
            <a:b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971800"/>
            <a:ext cx="8869680" cy="3970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100" b="0">
                <a:solidFill>
                  <a:srgbClr val="DCE6EB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Using Python to understand sales patterns and support business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4297680"/>
            <a:ext cx="5303520" cy="258532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200" b="1">
                <a:solidFill>
                  <a:srgbClr val="96D2D2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CAPSTONE PROJECT PRESENTATION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16E0CC-5B0A-476F-94DE-E33E20CF1609}"/>
              </a:ext>
            </a:extLst>
          </p:cNvPr>
          <p:cNvSpPr txBox="1"/>
          <p:nvPr/>
        </p:nvSpPr>
        <p:spPr>
          <a:xfrm>
            <a:off x="1188720" y="4724400"/>
            <a:ext cx="5303520" cy="9510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200" b="1">
                <a:solidFill>
                  <a:srgbClr val="96D2D2"/>
                </a:solidFill>
                <a:latin typeface="Aptos"/>
              </a:defRPr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</a:t>
            </a:r>
          </a:p>
          <a:p>
            <a:pPr>
              <a:defRPr sz="1200" b="1">
                <a:solidFill>
                  <a:srgbClr val="96D2D2"/>
                </a:solidFill>
                <a:latin typeface="Aptos"/>
              </a:defRPr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Ogunyebi </a:t>
            </a:r>
            <a:r>
              <a:rPr lang="en-US" sz="19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Monisola</a:t>
            </a:r>
            <a:endParaRPr lang="en-US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 sz="1200" b="1">
                <a:solidFill>
                  <a:srgbClr val="96D2D2"/>
                </a:solidFill>
                <a:latin typeface="Aptos"/>
              </a:defRPr>
            </a:pP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23</a:t>
            </a:r>
            <a:r>
              <a:rPr lang="en-US" sz="19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October 2026</a:t>
            </a:r>
            <a:endParaRPr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t>Project 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1572768"/>
            <a:ext cx="4663440" cy="3662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9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93392"/>
            <a:ext cx="4572000" cy="8586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700" b="0">
                <a:solidFill>
                  <a:srgbClr val="262F3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Fashion retailers need to understand product demand, changing sales patterns, pricing and seasonal preferences.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25880"/>
            <a:ext cx="5212080" cy="192024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1572768"/>
            <a:ext cx="4663440" cy="3662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9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93392"/>
            <a:ext cx="4572000" cy="85869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700" b="0">
                <a:solidFill>
                  <a:srgbClr val="262F3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Without </a:t>
            </a:r>
            <a:r>
              <a:rPr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analysing</a:t>
            </a: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sales data, it can be difficult to identify strong products, slow periods and opportunities to improve decisions.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794760"/>
            <a:ext cx="2743200" cy="28931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200" b="1">
                <a:solidFill>
                  <a:srgbClr val="27777E"/>
                </a:solidFill>
                <a:latin typeface="Aptos"/>
              </a:defRPr>
            </a:pPr>
            <a:r>
              <a:rPr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BUSINESS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4160520"/>
            <a:ext cx="10607040" cy="114300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4405599"/>
            <a:ext cx="10058400" cy="689420"/>
          </a:xfrm>
          <a:prstGeom prst="rect">
            <a:avLst/>
          </a:prstGeom>
          <a:noFill/>
        </p:spPr>
        <p:txBody>
          <a:bodyPr wrap="square" lIns="36576" tIns="36576" rIns="36576" bIns="36576" anchor="ctr">
            <a:spAutoFit/>
          </a:bodyPr>
          <a:lstStyle/>
          <a:p>
            <a:pPr>
              <a:defRPr sz="2200" b="1">
                <a:solidFill>
                  <a:srgbClr val="1F3046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can fashion sales data help us understand performance and improve pricing, promotions and inventory decisions?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715000"/>
            <a:ext cx="1024128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300" b="0">
                <a:solidFill>
                  <a:srgbClr val="5D6A77"/>
                </a:solidFill>
                <a:latin typeface="Aptos"/>
              </a:defRPr>
            </a:pPr>
            <a:r>
              <a:t>Focus: monthly trends • products and categories • seasons • discounts • customers and regions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t>Dataset &amp; Analysis Focus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3291840" cy="155448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1645920"/>
            <a:ext cx="2880360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700" b="1">
                <a:solidFill>
                  <a:srgbClr val="27777E"/>
                </a:solidFill>
                <a:latin typeface="Aptos"/>
              </a:defRPr>
            </a:pPr>
            <a:r>
              <a:t>Dataset source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084831"/>
            <a:ext cx="2880360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500" b="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Generated by </a:t>
            </a:r>
            <a:r>
              <a:rPr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ChatGPT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this project.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291840" cy="155448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6007" y="1645920"/>
            <a:ext cx="2880360" cy="3354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7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Original size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84831"/>
            <a:ext cx="2880360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500" b="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5,018 entries and 15 columns before cleaning.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417320"/>
            <a:ext cx="3291840" cy="155448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3608" y="1645920"/>
            <a:ext cx="2880360" cy="3354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7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Main fields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084831"/>
            <a:ext cx="2880360" cy="8125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500" b="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Orders, dates, products, quantity, price, discount, region and payment method.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74720"/>
            <a:ext cx="384048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300" b="1">
                <a:solidFill>
                  <a:srgbClr val="27777E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 EXPLORED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86200"/>
            <a:ext cx="6675120" cy="1348061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62F3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How do sales change over time and across seasons?</a:t>
            </a:r>
          </a:p>
          <a:p>
            <a:pPr>
              <a:spcAft>
                <a:spcPts val="800"/>
              </a:spcAft>
              <a:defRPr sz="1600">
                <a:solidFill>
                  <a:srgbClr val="262F3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Which products and categories contribute most to sales?</a:t>
            </a:r>
          </a:p>
          <a:p>
            <a:pPr>
              <a:spcAft>
                <a:spcPts val="800"/>
              </a:spcAft>
              <a:defRPr sz="1600">
                <a:solidFill>
                  <a:srgbClr val="262F3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Are discounts associated with higher quantity sold?</a:t>
            </a:r>
          </a:p>
          <a:p>
            <a:pPr>
              <a:spcAft>
                <a:spcPts val="800"/>
              </a:spcAft>
              <a:defRPr sz="1600">
                <a:solidFill>
                  <a:srgbClr val="262F38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How do sales vary across regions and payment methods?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t>Data Cleaning &amp;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5212080" cy="315468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691640"/>
            <a:ext cx="457200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900" b="1">
                <a:solidFill>
                  <a:srgbClr val="27777E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4572000" cy="2209836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62F38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Checked missing values and duplicates.</a:t>
            </a:r>
          </a:p>
          <a:p>
            <a:pPr>
              <a:spcAft>
                <a:spcPts val="800"/>
              </a:spcAft>
              <a:defRPr sz="1500">
                <a:solidFill>
                  <a:srgbClr val="262F38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Found 15 duplicate records.</a:t>
            </a:r>
          </a:p>
          <a:p>
            <a:pPr>
              <a:spcAft>
                <a:spcPts val="800"/>
              </a:spcAft>
              <a:defRPr sz="1500">
                <a:solidFill>
                  <a:srgbClr val="262F38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Recovered some missing values using related fields where possible.</a:t>
            </a:r>
          </a:p>
          <a:p>
            <a:pPr>
              <a:spcAft>
                <a:spcPts val="800"/>
              </a:spcAft>
              <a:defRPr sz="1500">
                <a:solidFill>
                  <a:srgbClr val="262F38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Corrected date, price and quantity data types.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212080" cy="315468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691640"/>
            <a:ext cx="457200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900" b="1">
                <a:solidFill>
                  <a:srgbClr val="27777E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48840"/>
            <a:ext cx="4572000" cy="1594283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62F38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Gross sales and discount amount</a:t>
            </a:r>
          </a:p>
          <a:p>
            <a:pPr>
              <a:spcAft>
                <a:spcPts val="800"/>
              </a:spcAft>
              <a:defRPr sz="1500">
                <a:solidFill>
                  <a:srgbClr val="262F38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Net sales</a:t>
            </a:r>
          </a:p>
          <a:p>
            <a:pPr>
              <a:spcAft>
                <a:spcPts val="800"/>
              </a:spcAft>
              <a:defRPr sz="1500">
                <a:solidFill>
                  <a:srgbClr val="262F38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Month, quarter and season</a:t>
            </a:r>
          </a:p>
          <a:p>
            <a:pPr>
              <a:spcAft>
                <a:spcPts val="800"/>
              </a:spcAft>
              <a:defRPr sz="1500">
                <a:solidFill>
                  <a:srgbClr val="262F38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Average order value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983480"/>
            <a:ext cx="10561320" cy="7772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5184648"/>
            <a:ext cx="10058400" cy="38164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600" b="1">
                <a:solidFill>
                  <a:srgbClr val="1F3046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After cleaning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feature engineering</a:t>
            </a: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4,584 entries and 21 columns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t>EDA 1 — Monthly Sales Trend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7863840" cy="507492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35608"/>
            <a:ext cx="74066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600" b="1">
                <a:solidFill>
                  <a:srgbClr val="27777E"/>
                </a:solidFill>
                <a:latin typeface="Aptos"/>
              </a:defRPr>
            </a:pPr>
            <a:r>
              <a:t>Monthly sales line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26180"/>
            <a:ext cx="7223759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800" b="1">
                <a:solidFill>
                  <a:srgbClr val="5D6A77"/>
                </a:solidFill>
                <a:latin typeface="Aptos"/>
              </a:defRPr>
            </a:pPr>
            <a:r>
              <a:t>PLACE VISUAL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42432"/>
            <a:ext cx="7223759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000" b="0">
                <a:solidFill>
                  <a:srgbClr val="5D6A77"/>
                </a:solidFill>
                <a:latin typeface="Aptos"/>
              </a:defRPr>
            </a:pPr>
            <a:r>
              <a:t>Use a high-resolution export; keep month labels readable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79" y="1234440"/>
            <a:ext cx="2989385" cy="507492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25712" y="1536192"/>
            <a:ext cx="2057400" cy="3508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8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400" y="1851359"/>
            <a:ext cx="2831122" cy="3348609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May 2025 recorded the highest sales.</a:t>
            </a:r>
          </a:p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July 2026 was another strong month.</a:t>
            </a:r>
          </a:p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December 2025 and June 2026 were the lowest.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There is a general poor sale recorded in the Month of December across the three years (2024-2026).</a:t>
            </a:r>
          </a:p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8915400" y="4975993"/>
            <a:ext cx="2011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500" b="1">
                <a:solidFill>
                  <a:srgbClr val="27777E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</a:t>
            </a:r>
            <a:r>
              <a:rPr dirty="0"/>
              <a:t>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29116" y="5348399"/>
            <a:ext cx="2817406" cy="566309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400" b="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Investigate sales peaks and plan stock for higher-demand periods.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5B681AC-EEFD-4D57-AA24-E20E9C354A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585920" y="1777504"/>
            <a:ext cx="7863840" cy="44851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t>EDA 2 — Product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7863840" cy="507492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35608"/>
            <a:ext cx="74066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600" b="1">
                <a:solidFill>
                  <a:srgbClr val="27777E"/>
                </a:solidFill>
                <a:latin typeface="Aptos"/>
              </a:defRPr>
            </a:pPr>
            <a:r>
              <a:t>Product revenue or quantity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26180"/>
            <a:ext cx="7223759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800" b="1">
                <a:solidFill>
                  <a:srgbClr val="5D6A77"/>
                </a:solidFill>
                <a:latin typeface="Aptos"/>
              </a:defRPr>
            </a:pPr>
            <a:r>
              <a:t>PLACE VISUAL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42432"/>
            <a:ext cx="7223759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000" b="0">
                <a:solidFill>
                  <a:srgbClr val="5D6A77"/>
                </a:solidFill>
                <a:latin typeface="Aptos"/>
              </a:defRPr>
            </a:pPr>
            <a:r>
              <a:t>Choose one clear chart; avoid squeezing several charts together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79" y="1234440"/>
            <a:ext cx="2876843" cy="507492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25712" y="1536192"/>
            <a:ext cx="2057400" cy="3508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8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5399" y="2066544"/>
            <a:ext cx="2831123" cy="1594283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Trench coat led product revenue.</a:t>
            </a:r>
          </a:p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Blazer led quantity sold.</a:t>
            </a:r>
          </a:p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Some high-quantity products generated lower revenue.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4332887"/>
            <a:ext cx="2011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500" b="1">
                <a:solidFill>
                  <a:srgbClr val="27777E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2832" y="4787527"/>
            <a:ext cx="2423160" cy="8125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400" b="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Review pricing, quantity and costs together before judging performance.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AE7FEB0-A260-4CC3-8BA9-DAD79F86FC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" y="818036"/>
            <a:ext cx="7970520" cy="57473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t>EDA 3 — Category &amp; Seasonal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7863840" cy="507492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35608"/>
            <a:ext cx="74066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600" b="1">
                <a:solidFill>
                  <a:srgbClr val="27777E"/>
                </a:solidFill>
                <a:latin typeface="Aptos"/>
              </a:defRPr>
            </a:pPr>
            <a:r>
              <a:t>Category × season heatmap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26180"/>
            <a:ext cx="7223759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800" b="1">
                <a:solidFill>
                  <a:srgbClr val="5D6A77"/>
                </a:solidFill>
                <a:latin typeface="Aptos"/>
              </a:defRPr>
            </a:pPr>
            <a:r>
              <a:t>PLACE VISUAL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42432"/>
            <a:ext cx="7223759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000" b="0">
                <a:solidFill>
                  <a:srgbClr val="5D6A77"/>
                </a:solidFill>
                <a:latin typeface="Aptos"/>
              </a:defRPr>
            </a:pPr>
            <a:r>
              <a:t>Make sure category and season labels are visible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1234440"/>
            <a:ext cx="2919046" cy="507492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25712" y="1536192"/>
            <a:ext cx="2057400" cy="3508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8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98279" y="2084831"/>
            <a:ext cx="2577905" cy="1840504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Outerwear performed best in both season.</a:t>
            </a:r>
          </a:p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Tops had the lowest performance in both season.</a:t>
            </a:r>
          </a:p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Rainy-season sales were higher than dry-season sales.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98280" y="4594836"/>
            <a:ext cx="2011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500" b="1">
                <a:solidFill>
                  <a:srgbClr val="27777E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0556" y="5079516"/>
            <a:ext cx="2550473" cy="8125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400" b="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seasonal patterns to guide stock planning and review low-performing categories.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F93C105-826B-4C42-869A-7CD40964AE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274" y="1031742"/>
            <a:ext cx="8290577" cy="5388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t>EDA 4 — Discount vs Quantity Sold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7863840" cy="507492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35608"/>
            <a:ext cx="74066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600" b="1">
                <a:solidFill>
                  <a:srgbClr val="27777E"/>
                </a:solidFill>
                <a:latin typeface="Aptos"/>
              </a:defRPr>
            </a:pPr>
            <a:r>
              <a:t>Discount vs quantity scatter plot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26180"/>
            <a:ext cx="7223759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800" b="1">
                <a:solidFill>
                  <a:srgbClr val="5D6A77"/>
                </a:solidFill>
                <a:latin typeface="Aptos"/>
              </a:defRPr>
            </a:pPr>
            <a:r>
              <a:t>PLACE VISUAL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42432"/>
            <a:ext cx="7223759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000" b="0">
                <a:solidFill>
                  <a:srgbClr val="5D6A77"/>
                </a:solidFill>
                <a:latin typeface="Aptos"/>
              </a:defRPr>
            </a:pPr>
            <a:r>
              <a:t>Include the trend line only if it helps explain the relationship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1234440"/>
            <a:ext cx="2560320" cy="507492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25712" y="1536192"/>
            <a:ext cx="2057400" cy="3508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8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5712" y="2148840"/>
            <a:ext cx="2011680" cy="11430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000" b="1">
                <a:solidFill>
                  <a:srgbClr val="1F3046"/>
                </a:solidFill>
                <a:latin typeface="Aptos"/>
              </a:defRPr>
            </a:pPr>
            <a:r>
              <a:t>Correlation = 0.029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3096887"/>
            <a:ext cx="2057400" cy="130497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400" b="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indicates a very weak positive linear relationship between discount and quantity sold.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4553357"/>
            <a:ext cx="2011680" cy="3200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500" b="1">
                <a:solidFill>
                  <a:srgbClr val="27777E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implication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75420" y="5004387"/>
            <a:ext cx="2011680" cy="130497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400" b="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Discounts alone may not explain sales volume; assess promotions with other factors.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BD9C0036-A655-472B-98B0-097A21AD2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74" y="1020312"/>
            <a:ext cx="8693130" cy="538887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t>EDA 5 — Regional &amp; Payment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7863840" cy="507492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35608"/>
            <a:ext cx="74066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600" b="1">
                <a:solidFill>
                  <a:srgbClr val="27777E"/>
                </a:solidFill>
                <a:latin typeface="Aptos"/>
              </a:defRPr>
            </a:pPr>
            <a:r>
              <a:t>Regional revenue or payment method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26180"/>
            <a:ext cx="7223759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800" b="1">
                <a:solidFill>
                  <a:srgbClr val="5D6A77"/>
                </a:solidFill>
                <a:latin typeface="Aptos"/>
              </a:defRPr>
            </a:pPr>
            <a:r>
              <a:t>PLACE VISUAL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42432"/>
            <a:ext cx="7223759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000" b="0">
                <a:solidFill>
                  <a:srgbClr val="5D6A77"/>
                </a:solidFill>
                <a:latin typeface="Aptos"/>
              </a:defRPr>
            </a:pPr>
            <a:r>
              <a:t>Use one chart here; mention the second finding in the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79" y="1234440"/>
            <a:ext cx="2865121" cy="507492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25712" y="1536192"/>
            <a:ext cx="2057400" cy="3508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8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5712" y="2084831"/>
            <a:ext cx="2057400" cy="2055947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North-West had the highest revenue.</a:t>
            </a:r>
          </a:p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South-East had more customers than North-West.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1599" y="4620668"/>
            <a:ext cx="2468881" cy="3662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500" b="1">
                <a:solidFill>
                  <a:srgbClr val="27777E"/>
                </a:solidFill>
                <a:latin typeface="Aptos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059580"/>
            <a:ext cx="2633472" cy="9510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400" b="0">
                <a:solidFill>
                  <a:srgbClr val="262F38"/>
                </a:solidFill>
                <a:latin typeface="Aptos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customer count, average order value and product mix by region.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D17EC63-09B5-46D8-9AA9-4F04FFB752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1043121"/>
            <a:ext cx="8264769" cy="5613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7269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904863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rPr lang="en-US" dirty="0"/>
              <a:t>EDA 6 — Payment Method &amp; Revenue</a:t>
            </a:r>
          </a:p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34440"/>
            <a:ext cx="7863840" cy="507492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1435608"/>
            <a:ext cx="7406640" cy="38404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600" b="1">
                <a:solidFill>
                  <a:srgbClr val="27777E"/>
                </a:solidFill>
                <a:latin typeface="Aptos"/>
              </a:defRPr>
            </a:pPr>
            <a:r>
              <a:t>Regional revenue or payment method chart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26180"/>
            <a:ext cx="7223759" cy="5486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800" b="1">
                <a:solidFill>
                  <a:srgbClr val="5D6A77"/>
                </a:solidFill>
                <a:latin typeface="Aptos"/>
              </a:defRPr>
            </a:pPr>
            <a:r>
              <a:t>PLACE VISUAL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742432"/>
            <a:ext cx="7223759" cy="32004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ctr">
              <a:defRPr sz="1000" b="0">
                <a:solidFill>
                  <a:srgbClr val="5D6A77"/>
                </a:solidFill>
                <a:latin typeface="Aptos"/>
              </a:defRPr>
            </a:pPr>
            <a:r>
              <a:t>Use one chart here; mention the second finding in the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79" y="1234440"/>
            <a:ext cx="2865121" cy="507492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25712" y="1536192"/>
            <a:ext cx="2057400" cy="350865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8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5711" y="2084831"/>
            <a:ext cx="2468881" cy="2055947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lang="en-US" sz="2000" dirty="0"/>
              <a:t>• 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Digital wallets generated the most revenue.</a:t>
            </a:r>
          </a:p>
          <a:p>
            <a:pPr>
              <a:spcAft>
                <a:spcPts val="1200"/>
              </a:spcAft>
              <a:defRPr sz="1400">
                <a:solidFill>
                  <a:srgbClr val="262F38"/>
                </a:solidFill>
                <a:latin typeface="Aptos"/>
              </a:defRPr>
            </a:pPr>
            <a:r>
              <a:rPr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Cash and Card were the mostly used payment method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991599" y="4620668"/>
            <a:ext cx="2468881" cy="366254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500" b="1">
                <a:solidFill>
                  <a:srgbClr val="27777E"/>
                </a:solidFill>
                <a:latin typeface="Aptos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Business implication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5059580"/>
            <a:ext cx="2633472" cy="95103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400" b="0">
                <a:solidFill>
                  <a:srgbClr val="262F38"/>
                </a:solidFill>
                <a:latin typeface="Aptos"/>
              </a:defRPr>
            </a:pPr>
            <a:r>
              <a:rPr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 </a:t>
            </a:r>
            <a:r>
              <a:rPr lang="en-US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payment methods by the total revenue</a:t>
            </a:r>
            <a:endParaRPr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3D06526-A1F0-4A68-AE16-5ACC1ACE5F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16" y="1224902"/>
            <a:ext cx="7729961" cy="5153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683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t>Other 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508760"/>
            <a:ext cx="3291840" cy="205740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78408" y="1783080"/>
            <a:ext cx="2880360" cy="3354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7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Products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267712"/>
            <a:ext cx="2880360" cy="105875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just">
              <a:defRPr sz="1500" b="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quantity did not always mean high revenue. Trench coats led revenue, while blazers led quantity.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05740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36007" y="1783080"/>
            <a:ext cx="2880360" cy="3354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7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Payment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267712"/>
            <a:ext cx="2880360" cy="105875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just">
              <a:defRPr sz="1500" b="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Digital wallets led revenue, followed by cash. Card generated the least revenue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but widely used by customers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508760"/>
            <a:ext cx="3291840" cy="205740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93608" y="1783080"/>
            <a:ext cx="2880360" cy="335476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700" b="1">
                <a:solidFill>
                  <a:srgbClr val="27777E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preferences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267712"/>
            <a:ext cx="2880360" cy="1058751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just">
              <a:defRPr sz="1500" b="0">
                <a:solidFill>
                  <a:srgbClr val="262F38"/>
                </a:solidFill>
                <a:latin typeface="Aptos"/>
              </a:defRPr>
            </a:pP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Yellow was the most popular color. </a:t>
            </a: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r>
              <a:rPr lang="en-US" sz="1600">
                <a:latin typeface="Times New Roman" panose="02020603050405020304" pitchFamily="18" charset="0"/>
                <a:cs typeface="Times New Roman" panose="02020603050405020304" pitchFamily="18" charset="0"/>
              </a:rPr>
              <a:t>(One-Size)</a:t>
            </a:r>
            <a:r>
              <a:rPr sz="160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was the most popular clothing size; size 42 led shoe sizes.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60520"/>
            <a:ext cx="10561320" cy="118872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434840"/>
            <a:ext cx="10012680" cy="597087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just">
              <a:defRPr sz="1700" b="1">
                <a:solidFill>
                  <a:srgbClr val="1F3046"/>
                </a:solidFill>
                <a:latin typeface="Aptos"/>
              </a:defRPr>
            </a:pPr>
            <a:r>
              <a:rPr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These patterns can help guide inventory and product decisions, but revenue alone does not show profit. Cost and margin data would be needed for profitability analysis.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t>Business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11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1F2E34F-3245-4F63-991B-7927E0915141}"/>
              </a:ext>
            </a:extLst>
          </p:cNvPr>
          <p:cNvGrpSpPr/>
          <p:nvPr/>
        </p:nvGrpSpPr>
        <p:grpSpPr>
          <a:xfrm>
            <a:off x="749808" y="1499615"/>
            <a:ext cx="5166360" cy="1143000"/>
            <a:chOff x="777240" y="1325880"/>
            <a:chExt cx="5166360" cy="1143000"/>
          </a:xfrm>
        </p:grpSpPr>
        <p:sp>
          <p:nvSpPr>
            <p:cNvPr id="6" name="Rounded Rectangle 5"/>
            <p:cNvSpPr/>
            <p:nvPr/>
          </p:nvSpPr>
          <p:spPr>
            <a:xfrm>
              <a:off x="777240" y="1325880"/>
              <a:ext cx="5166360" cy="1143000"/>
            </a:xfrm>
            <a:prstGeom prst="roundRect">
              <a:avLst>
                <a:gd name="adj" fmla="val 8000"/>
              </a:avLst>
            </a:prstGeom>
            <a:solidFill>
              <a:srgbClr val="EFF5F6"/>
            </a:solidFill>
            <a:ln w="12700">
              <a:solidFill>
                <a:srgbClr val="BECFD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978408" y="1481328"/>
              <a:ext cx="4663440" cy="320088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>
                <a:defRPr sz="1600" b="1">
                  <a:solidFill>
                    <a:srgbClr val="27777E"/>
                  </a:solidFill>
                  <a:latin typeface="Aptos"/>
                </a:defRPr>
              </a:pPr>
              <a:r>
                <a:rPr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Plan for demand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78408" y="1828800"/>
              <a:ext cx="4663440" cy="504754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 algn="just">
                <a:defRPr sz="1300" b="0">
                  <a:solidFill>
                    <a:srgbClr val="262F38"/>
                  </a:solidFill>
                  <a:latin typeface="Aptos"/>
                </a:defRPr>
              </a:pPr>
              <a:r>
                <a:rPr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Investigate sales peaks and prepare inventory for high-demand periods.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D5E88500-FCEF-4D8C-B9AA-F2571EF59DAA}"/>
              </a:ext>
            </a:extLst>
          </p:cNvPr>
          <p:cNvGrpSpPr/>
          <p:nvPr/>
        </p:nvGrpSpPr>
        <p:grpSpPr>
          <a:xfrm>
            <a:off x="6419088" y="1497329"/>
            <a:ext cx="5166360" cy="1143000"/>
            <a:chOff x="6217920" y="1325880"/>
            <a:chExt cx="5166360" cy="1143000"/>
          </a:xfrm>
        </p:grpSpPr>
        <p:sp>
          <p:nvSpPr>
            <p:cNvPr id="9" name="Rounded Rectangle 8"/>
            <p:cNvSpPr/>
            <p:nvPr/>
          </p:nvSpPr>
          <p:spPr>
            <a:xfrm>
              <a:off x="6217920" y="1325880"/>
              <a:ext cx="5166360" cy="1143000"/>
            </a:xfrm>
            <a:prstGeom prst="roundRect">
              <a:avLst>
                <a:gd name="adj" fmla="val 8000"/>
              </a:avLst>
            </a:prstGeom>
            <a:solidFill>
              <a:srgbClr val="EFF5F6"/>
            </a:solidFill>
            <a:ln w="12700">
              <a:solidFill>
                <a:srgbClr val="BECFD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419088" y="1481328"/>
              <a:ext cx="4663440" cy="320088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>
                <a:defRPr sz="1600" b="1">
                  <a:solidFill>
                    <a:srgbClr val="27777E"/>
                  </a:solidFill>
                  <a:latin typeface="Aptos"/>
                </a:defRPr>
              </a:pPr>
              <a:r>
                <a:rPr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Review products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419088" y="1828800"/>
              <a:ext cx="4663440" cy="504754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 algn="just">
                <a:defRPr sz="1300" b="0">
                  <a:solidFill>
                    <a:srgbClr val="262F38"/>
                  </a:solidFill>
                  <a:latin typeface="Aptos"/>
                </a:defRPr>
              </a:pPr>
              <a:r>
                <a:rPr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Assess pricing, discounts and costs for high-quantity, lower-revenue products.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7BB7B68-EFBA-46CC-976D-528E4F30A81F}"/>
              </a:ext>
            </a:extLst>
          </p:cNvPr>
          <p:cNvGrpSpPr/>
          <p:nvPr/>
        </p:nvGrpSpPr>
        <p:grpSpPr>
          <a:xfrm>
            <a:off x="749808" y="3291839"/>
            <a:ext cx="5166360" cy="1143000"/>
            <a:chOff x="777240" y="2788920"/>
            <a:chExt cx="5166360" cy="1143000"/>
          </a:xfrm>
        </p:grpSpPr>
        <p:sp>
          <p:nvSpPr>
            <p:cNvPr id="12" name="Rounded Rectangle 11"/>
            <p:cNvSpPr/>
            <p:nvPr/>
          </p:nvSpPr>
          <p:spPr>
            <a:xfrm>
              <a:off x="777240" y="2788920"/>
              <a:ext cx="5166360" cy="1143000"/>
            </a:xfrm>
            <a:prstGeom prst="roundRect">
              <a:avLst>
                <a:gd name="adj" fmla="val 8000"/>
              </a:avLst>
            </a:prstGeom>
            <a:solidFill>
              <a:srgbClr val="EFF5F6"/>
            </a:solidFill>
            <a:ln w="12700">
              <a:solidFill>
                <a:srgbClr val="BECFD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978408" y="2944368"/>
              <a:ext cx="4663440" cy="320088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>
                <a:defRPr sz="1600" b="1">
                  <a:solidFill>
                    <a:srgbClr val="27777E"/>
                  </a:solidFill>
                  <a:latin typeface="Aptos"/>
                </a:defRPr>
              </a:pPr>
              <a:r>
                <a:rPr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Plan by season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78408" y="3291839"/>
              <a:ext cx="4663440" cy="504754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 algn="just">
                <a:defRPr sz="1300" b="0">
                  <a:solidFill>
                    <a:srgbClr val="262F38"/>
                  </a:solidFill>
                  <a:latin typeface="Aptos"/>
                </a:defRPr>
              </a:pPr>
              <a:r>
                <a:rPr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Use category and seasonal patterns to guide stock levels; review low-performing tops.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1B9FAE16-6E39-4E28-AFD3-A562E21ED1F9}"/>
              </a:ext>
            </a:extLst>
          </p:cNvPr>
          <p:cNvGrpSpPr/>
          <p:nvPr/>
        </p:nvGrpSpPr>
        <p:grpSpPr>
          <a:xfrm>
            <a:off x="6419088" y="3291839"/>
            <a:ext cx="5166360" cy="1143000"/>
            <a:chOff x="6217920" y="2788920"/>
            <a:chExt cx="5166360" cy="1143000"/>
          </a:xfrm>
        </p:grpSpPr>
        <p:sp>
          <p:nvSpPr>
            <p:cNvPr id="15" name="Rounded Rectangle 14"/>
            <p:cNvSpPr/>
            <p:nvPr/>
          </p:nvSpPr>
          <p:spPr>
            <a:xfrm>
              <a:off x="6217920" y="2788920"/>
              <a:ext cx="5166360" cy="1143000"/>
            </a:xfrm>
            <a:prstGeom prst="roundRect">
              <a:avLst>
                <a:gd name="adj" fmla="val 8000"/>
              </a:avLst>
            </a:prstGeom>
            <a:solidFill>
              <a:srgbClr val="EFF5F6"/>
            </a:solidFill>
            <a:ln w="12700">
              <a:solidFill>
                <a:srgbClr val="BECFD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19088" y="2944368"/>
              <a:ext cx="4663440" cy="320088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>
                <a:defRPr sz="1600" b="1">
                  <a:solidFill>
                    <a:srgbClr val="27777E"/>
                  </a:solidFill>
                  <a:latin typeface="Aptos"/>
                </a:defRPr>
              </a:pPr>
              <a:r>
                <a:rPr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Evaluate promotions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419088" y="3291839"/>
              <a:ext cx="4663440" cy="504754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>
                <a:defRPr sz="1300" b="0">
                  <a:solidFill>
                    <a:srgbClr val="262F38"/>
                  </a:solidFill>
                  <a:latin typeface="Aptos"/>
                </a:defRPr>
              </a:pPr>
              <a:r>
                <a:rPr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Do not rely only on discounts; compare quantity, net sales and profitability where cost data exists.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6ED8BB5-E040-49FE-BF60-E53ED48F0FAC}"/>
              </a:ext>
            </a:extLst>
          </p:cNvPr>
          <p:cNvGrpSpPr/>
          <p:nvPr/>
        </p:nvGrpSpPr>
        <p:grpSpPr>
          <a:xfrm>
            <a:off x="777240" y="5193516"/>
            <a:ext cx="5166360" cy="1143000"/>
            <a:chOff x="777240" y="4251960"/>
            <a:chExt cx="5166360" cy="1143000"/>
          </a:xfrm>
        </p:grpSpPr>
        <p:sp>
          <p:nvSpPr>
            <p:cNvPr id="18" name="Rounded Rectangle 17"/>
            <p:cNvSpPr/>
            <p:nvPr/>
          </p:nvSpPr>
          <p:spPr>
            <a:xfrm>
              <a:off x="777240" y="4251960"/>
              <a:ext cx="5166360" cy="1143000"/>
            </a:xfrm>
            <a:prstGeom prst="roundRect">
              <a:avLst>
                <a:gd name="adj" fmla="val 8000"/>
              </a:avLst>
            </a:prstGeom>
            <a:solidFill>
              <a:srgbClr val="EFF5F6"/>
            </a:solidFill>
            <a:ln w="12700">
              <a:solidFill>
                <a:srgbClr val="BECFD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78408" y="4407408"/>
              <a:ext cx="4663440" cy="320088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>
                <a:defRPr sz="1600" b="1">
                  <a:solidFill>
                    <a:srgbClr val="27777E"/>
                  </a:solidFill>
                  <a:latin typeface="Aptos"/>
                </a:defRPr>
              </a:pPr>
              <a:r>
                <a:rPr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Compare regions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978408" y="4754880"/>
              <a:ext cx="4663440" cy="504754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>
                <a:defRPr sz="1300" b="0">
                  <a:solidFill>
                    <a:srgbClr val="262F38"/>
                  </a:solidFill>
                  <a:latin typeface="Aptos"/>
                </a:defRPr>
              </a:pPr>
              <a:r>
                <a:rPr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Review average order value, customer counts and product mix across regions.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E770779-01A5-4A28-9D05-5637AB8CD0E6}"/>
              </a:ext>
            </a:extLst>
          </p:cNvPr>
          <p:cNvGrpSpPr/>
          <p:nvPr/>
        </p:nvGrpSpPr>
        <p:grpSpPr>
          <a:xfrm>
            <a:off x="6419088" y="5170932"/>
            <a:ext cx="5166360" cy="1143000"/>
            <a:chOff x="6217920" y="4251960"/>
            <a:chExt cx="5166360" cy="1143000"/>
          </a:xfrm>
        </p:grpSpPr>
        <p:sp>
          <p:nvSpPr>
            <p:cNvPr id="21" name="Rounded Rectangle 20"/>
            <p:cNvSpPr/>
            <p:nvPr/>
          </p:nvSpPr>
          <p:spPr>
            <a:xfrm>
              <a:off x="6217920" y="4251960"/>
              <a:ext cx="5166360" cy="1143000"/>
            </a:xfrm>
            <a:prstGeom prst="roundRect">
              <a:avLst>
                <a:gd name="adj" fmla="val 8000"/>
              </a:avLst>
            </a:prstGeom>
            <a:solidFill>
              <a:srgbClr val="EFF5F6"/>
            </a:solidFill>
            <a:ln w="12700">
              <a:solidFill>
                <a:srgbClr val="BECFD3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19088" y="4407408"/>
              <a:ext cx="4663440" cy="320088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 algn="just">
                <a:defRPr sz="1600" b="1">
                  <a:solidFill>
                    <a:srgbClr val="27777E"/>
                  </a:solidFill>
                  <a:latin typeface="Aptos"/>
                </a:defRPr>
              </a:pPr>
              <a:r>
                <a:rPr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Use preference data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19088" y="4754880"/>
              <a:ext cx="4663440" cy="504754"/>
            </a:xfrm>
            <a:prstGeom prst="rect">
              <a:avLst/>
            </a:prstGeom>
            <a:noFill/>
          </p:spPr>
          <p:txBody>
            <a:bodyPr wrap="square" lIns="36576" tIns="36576" rIns="36576" bIns="36576" anchor="t">
              <a:spAutoFit/>
            </a:bodyPr>
            <a:lstStyle/>
            <a:p>
              <a:pPr>
                <a:defRPr sz="1300" b="0">
                  <a:solidFill>
                    <a:srgbClr val="262F38"/>
                  </a:solidFill>
                  <a:latin typeface="Aptos"/>
                </a:defRPr>
              </a:pPr>
              <a:r>
                <a:rPr sz="1400">
                  <a:latin typeface="Times New Roman" panose="02020603050405020304" pitchFamily="18" charset="0"/>
                  <a:cs typeface="Times New Roman" panose="02020603050405020304" pitchFamily="18" charset="0"/>
                </a:rPr>
                <a:t>Monitor popular colours and sizes while checking stock availability.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869680" cy="475488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700" b="1">
                <a:solidFill>
                  <a:srgbClr val="1F3046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418320" y="411480"/>
            <a:ext cx="2103120" cy="2286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1000" b="1">
                <a:solidFill>
                  <a:srgbClr val="27777E"/>
                </a:solidFill>
                <a:latin typeface="Aptos"/>
              </a:defRPr>
            </a:pPr>
            <a:r>
              <a:t>WRAP-UP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932688"/>
            <a:ext cx="10927080" cy="22860"/>
          </a:xfrm>
          <a:prstGeom prst="rect">
            <a:avLst/>
          </a:prstGeom>
          <a:solidFill>
            <a:srgbClr val="27777E"/>
          </a:solidFill>
          <a:ln w="12700">
            <a:solidFill>
              <a:srgbClr val="2777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109960" y="6473952"/>
            <a:ext cx="411480" cy="18288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 algn="r">
              <a:defRPr sz="900" b="0">
                <a:solidFill>
                  <a:srgbClr val="5D6A77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417320"/>
            <a:ext cx="6583680" cy="3291840"/>
          </a:xfrm>
          <a:prstGeom prst="roundRect">
            <a:avLst>
              <a:gd name="adj" fmla="val 8000"/>
            </a:avLst>
          </a:prstGeom>
          <a:solidFill>
            <a:srgbClr val="EFF5F6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1783080"/>
            <a:ext cx="594360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900" b="1">
                <a:solidFill>
                  <a:srgbClr val="27777E"/>
                </a:solidFill>
                <a:latin typeface="Aptos"/>
              </a:defRPr>
            </a:pPr>
            <a:r>
              <a:t>What the analysis showed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31720"/>
            <a:ext cx="5806440" cy="182880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900" b="0">
                <a:solidFill>
                  <a:srgbClr val="1F3046"/>
                </a:solidFill>
                <a:latin typeface="Aptos"/>
              </a:defRPr>
            </a:pPr>
            <a:r>
              <a:t>The analysis identified patterns in monthly sales, product and category performance, seasons, discounts, regions and payment methods. These findings can support better inventory and sales planning.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417320"/>
            <a:ext cx="3657600" cy="3291840"/>
          </a:xfrm>
          <a:prstGeom prst="roundRect">
            <a:avLst>
              <a:gd name="adj" fmla="val 8000"/>
            </a:avLst>
          </a:prstGeom>
          <a:solidFill>
            <a:srgbClr val="F8F9FA"/>
          </a:solidFill>
          <a:ln w="12700">
            <a:solidFill>
              <a:srgbClr val="BECFD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0" y="1783080"/>
            <a:ext cx="3017520" cy="36576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800" b="1">
                <a:solidFill>
                  <a:srgbClr val="27777E"/>
                </a:solidFill>
                <a:latin typeface="Aptos"/>
              </a:defRPr>
            </a:pPr>
            <a:r>
              <a:t>Tools &amp; technologies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2834640" cy="1920240"/>
          </a:xfrm>
          <a:prstGeom prst="rect">
            <a:avLst/>
          </a:prstGeom>
          <a:noFill/>
        </p:spPr>
        <p:txBody>
          <a:bodyPr wrap="square" lIns="27432" tIns="27432" rIns="27432" bIns="27432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262F38"/>
                </a:solidFill>
                <a:latin typeface="Aptos"/>
              </a:defRPr>
            </a:pPr>
            <a:r>
              <a:t>•  Python</a:t>
            </a:r>
          </a:p>
          <a:p>
            <a:pPr>
              <a:spcAft>
                <a:spcPts val="900"/>
              </a:spcAft>
              <a:defRPr sz="1600">
                <a:solidFill>
                  <a:srgbClr val="262F38"/>
                </a:solidFill>
                <a:latin typeface="Aptos"/>
              </a:defRPr>
            </a:pPr>
            <a:r>
              <a:t>•  Jupyter Notebook</a:t>
            </a:r>
          </a:p>
          <a:p>
            <a:pPr>
              <a:spcAft>
                <a:spcPts val="900"/>
              </a:spcAft>
              <a:defRPr sz="1600">
                <a:solidFill>
                  <a:srgbClr val="262F38"/>
                </a:solidFill>
                <a:latin typeface="Aptos"/>
              </a:defRPr>
            </a:pPr>
            <a:r>
              <a:t>•  Pandas and NumPy</a:t>
            </a:r>
          </a:p>
          <a:p>
            <a:pPr>
              <a:spcAft>
                <a:spcPts val="900"/>
              </a:spcAft>
              <a:defRPr sz="1600">
                <a:solidFill>
                  <a:srgbClr val="262F38"/>
                </a:solidFill>
                <a:latin typeface="Aptos"/>
              </a:defRPr>
            </a:pPr>
            <a:r>
              <a:t>•  Matplotlib and Seaborn</a:t>
            </a:r>
          </a:p>
          <a:p>
            <a:pPr>
              <a:spcAft>
                <a:spcPts val="900"/>
              </a:spcAft>
              <a:defRPr sz="1600">
                <a:solidFill>
                  <a:srgbClr val="262F38"/>
                </a:solidFill>
                <a:latin typeface="Aptos"/>
              </a:defRPr>
            </a:pPr>
            <a:r>
              <a:t>•  CSV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623560"/>
            <a:ext cx="4572000" cy="5029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2500" b="1">
                <a:solidFill>
                  <a:srgbClr val="1F3046"/>
                </a:solidFill>
                <a:latin typeface="Aptos"/>
              </a:defRPr>
            </a:pPr>
            <a:r>
              <a:t>Thank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080760"/>
            <a:ext cx="4572000" cy="274320"/>
          </a:xfrm>
          <a:prstGeom prst="rect">
            <a:avLst/>
          </a:prstGeom>
          <a:noFill/>
        </p:spPr>
        <p:txBody>
          <a:bodyPr wrap="square" lIns="36576" tIns="36576" rIns="36576" bIns="36576" anchor="t">
            <a:spAutoFit/>
          </a:bodyPr>
          <a:lstStyle/>
          <a:p>
            <a:pPr>
              <a:defRPr sz="1400" b="0">
                <a:solidFill>
                  <a:srgbClr val="5D6A77"/>
                </a:solidFill>
                <a:latin typeface="Aptos"/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930</Words>
  <Application>Microsoft Office PowerPoint</Application>
  <PresentationFormat>Widescreen</PresentationFormat>
  <Paragraphs>152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Ogunyebi Felicia</cp:lastModifiedBy>
  <cp:revision>5</cp:revision>
  <dcterms:created xsi:type="dcterms:W3CDTF">2013-01-27T09:14:16Z</dcterms:created>
  <dcterms:modified xsi:type="dcterms:W3CDTF">2026-10-24T10:16:53Z</dcterms:modified>
  <cp:category/>
</cp:coreProperties>
</file>